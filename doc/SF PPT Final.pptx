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311" r:id="rId12"/>
    <p:sldId id="277" r:id="rId13"/>
    <p:sldId id="278" r:id="rId14"/>
    <p:sldId id="279" r:id="rId15"/>
    <p:sldId id="280" r:id="rId16"/>
    <p:sldId id="310" r:id="rId17"/>
    <p:sldId id="282" r:id="rId18"/>
  </p:sldIdLst>
  <p:sldSz cx="18288000" cy="10287000"/>
  <p:notesSz cx="6858000" cy="9144000"/>
  <p:embeddedFontLst>
    <p:embeddedFont>
      <p:font typeface="Lora" pitchFamily="2" charset="0"/>
      <p:regular r:id="rId19"/>
      <p:bold r:id="rId20"/>
      <p:italic r:id="rId21"/>
    </p:embeddedFont>
    <p:embeddedFont>
      <p:font typeface="Lora Bold" charset="0"/>
      <p:regular r:id="rId22"/>
    </p:embeddedFont>
    <p:embeddedFont>
      <p:font typeface="Muli Ultra-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>
      <p:cViewPr varScale="1">
        <p:scale>
          <a:sx n="52" d="100"/>
          <a:sy n="52" d="100"/>
        </p:scale>
        <p:origin x="8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kandev.indiadataportal.com/dataset/fertilizer" TargetMode="External"/><Relationship Id="rId2" Type="http://schemas.openxmlformats.org/officeDocument/2006/relationships/hyperlink" Target="https://www.data.gov.in/catalog/rainfall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kaggle.com/datasets/akshatgupta7/crop-yield-in-indian-states-dataset" TargetMode="External"/><Relationship Id="rId4" Type="http://schemas.openxmlformats.org/officeDocument/2006/relationships/hyperlink" Target="https://ckandev.indiadataportal.com/dataset/climate-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6948915" y="1336765"/>
            <a:ext cx="8876868" cy="809766"/>
          </a:xfrm>
          <a:custGeom>
            <a:avLst/>
            <a:gdLst/>
            <a:ahLst/>
            <a:cxnLst/>
            <a:rect l="l" t="t" r="r" b="b"/>
            <a:pathLst>
              <a:path w="8876868" h="809766">
                <a:moveTo>
                  <a:pt x="0" y="0"/>
                </a:moveTo>
                <a:lnTo>
                  <a:pt x="8876868" y="0"/>
                </a:lnTo>
                <a:lnTo>
                  <a:pt x="8876868" y="809766"/>
                </a:lnTo>
                <a:lnTo>
                  <a:pt x="0" y="809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40561" y="3480031"/>
            <a:ext cx="2605306" cy="3577080"/>
          </a:xfrm>
          <a:custGeom>
            <a:avLst/>
            <a:gdLst/>
            <a:ahLst/>
            <a:cxnLst/>
            <a:rect l="l" t="t" r="r" b="b"/>
            <a:pathLst>
              <a:path w="2605306" h="3577080">
                <a:moveTo>
                  <a:pt x="0" y="0"/>
                </a:moveTo>
                <a:lnTo>
                  <a:pt x="2605306" y="0"/>
                </a:lnTo>
                <a:lnTo>
                  <a:pt x="2605306" y="3577080"/>
                </a:lnTo>
                <a:lnTo>
                  <a:pt x="0" y="3577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450109" y="-1629108"/>
            <a:ext cx="976849" cy="7678068"/>
            <a:chOff x="0" y="0"/>
            <a:chExt cx="257277" cy="20222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7277" cy="2022207"/>
            </a:xfrm>
            <a:custGeom>
              <a:avLst/>
              <a:gdLst/>
              <a:ahLst/>
              <a:cxnLst/>
              <a:rect l="l" t="t" r="r" b="b"/>
              <a:pathLst>
                <a:path w="257277" h="2022207">
                  <a:moveTo>
                    <a:pt x="0" y="0"/>
                  </a:moveTo>
                  <a:lnTo>
                    <a:pt x="257277" y="0"/>
                  </a:lnTo>
                  <a:lnTo>
                    <a:pt x="257277" y="2022207"/>
                  </a:lnTo>
                  <a:lnTo>
                    <a:pt x="0" y="2022207"/>
                  </a:lnTo>
                  <a:close/>
                </a:path>
              </a:pathLst>
            </a:custGeom>
            <a:ln w="19050" cap="sq">
              <a:solidFill>
                <a:srgbClr val="D7E8BD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257277" cy="1946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948915" y="2788283"/>
            <a:ext cx="9798671" cy="263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1"/>
              </a:lnSpc>
            </a:pPr>
            <a:r>
              <a:rPr lang="en-US" sz="11135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CROP YIELD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4334" y="5365183"/>
            <a:ext cx="8827308" cy="108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4"/>
              </a:lnSpc>
              <a:spcBef>
                <a:spcPct val="0"/>
              </a:spcBef>
            </a:pPr>
            <a:r>
              <a:rPr lang="en-US" sz="3117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USING STATISTICS AND MACHINE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7700" y="1652189"/>
            <a:ext cx="1933326" cy="2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7"/>
              </a:lnSpc>
            </a:pPr>
            <a:r>
              <a:rPr lang="en-US" sz="2197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Presented by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17488" y="1652189"/>
            <a:ext cx="2950273" cy="2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7"/>
              </a:lnSpc>
            </a:pPr>
            <a:r>
              <a:rPr lang="en-US" sz="2197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Group 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488424" y="5143500"/>
            <a:ext cx="976849" cy="7678068"/>
            <a:chOff x="0" y="0"/>
            <a:chExt cx="257277" cy="20222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7277" cy="2022207"/>
            </a:xfrm>
            <a:custGeom>
              <a:avLst/>
              <a:gdLst/>
              <a:ahLst/>
              <a:cxnLst/>
              <a:rect l="l" t="t" r="r" b="b"/>
              <a:pathLst>
                <a:path w="257277" h="2022207">
                  <a:moveTo>
                    <a:pt x="0" y="0"/>
                  </a:moveTo>
                  <a:lnTo>
                    <a:pt x="257277" y="0"/>
                  </a:lnTo>
                  <a:lnTo>
                    <a:pt x="257277" y="2022207"/>
                  </a:lnTo>
                  <a:lnTo>
                    <a:pt x="0" y="2022207"/>
                  </a:lnTo>
                  <a:close/>
                </a:path>
              </a:pathLst>
            </a:custGeom>
            <a:ln w="28575" cap="sq">
              <a:solidFill>
                <a:srgbClr val="D7E8B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257277" cy="1946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1303" y="7370096"/>
            <a:ext cx="580508" cy="1487603"/>
            <a:chOff x="0" y="0"/>
            <a:chExt cx="152891" cy="3917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891" cy="391797"/>
            </a:xfrm>
            <a:custGeom>
              <a:avLst/>
              <a:gdLst/>
              <a:ahLst/>
              <a:cxnLst/>
              <a:rect l="l" t="t" r="r" b="b"/>
              <a:pathLst>
                <a:path w="152891" h="391797">
                  <a:moveTo>
                    <a:pt x="0" y="0"/>
                  </a:moveTo>
                  <a:lnTo>
                    <a:pt x="152891" y="0"/>
                  </a:lnTo>
                  <a:lnTo>
                    <a:pt x="152891" y="391797"/>
                  </a:lnTo>
                  <a:lnTo>
                    <a:pt x="0" y="391797"/>
                  </a:lnTo>
                  <a:close/>
                </a:path>
              </a:pathLst>
            </a:custGeom>
            <a:solidFill>
              <a:srgbClr val="8CC342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76200"/>
              <a:ext cx="152891" cy="315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59855" y="2464433"/>
            <a:ext cx="580508" cy="1487603"/>
            <a:chOff x="0" y="0"/>
            <a:chExt cx="152891" cy="3917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891" cy="391797"/>
            </a:xfrm>
            <a:custGeom>
              <a:avLst/>
              <a:gdLst/>
              <a:ahLst/>
              <a:cxnLst/>
              <a:rect l="l" t="t" r="r" b="b"/>
              <a:pathLst>
                <a:path w="152891" h="391797">
                  <a:moveTo>
                    <a:pt x="0" y="0"/>
                  </a:moveTo>
                  <a:lnTo>
                    <a:pt x="152891" y="0"/>
                  </a:lnTo>
                  <a:lnTo>
                    <a:pt x="152891" y="391797"/>
                  </a:lnTo>
                  <a:lnTo>
                    <a:pt x="0" y="391797"/>
                  </a:lnTo>
                  <a:close/>
                </a:path>
              </a:pathLst>
            </a:custGeom>
            <a:solidFill>
              <a:srgbClr val="8CC342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76200"/>
              <a:ext cx="152891" cy="315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995124" y="7262448"/>
            <a:ext cx="3633035" cy="2358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197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Sanika </a:t>
            </a:r>
            <a:r>
              <a:rPr lang="en-US" sz="2197" b="1" dirty="0" err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Aeer</a:t>
            </a:r>
            <a:endParaRPr lang="en-US" sz="2197" b="1" dirty="0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algn="l">
              <a:lnSpc>
                <a:spcPts val="3075"/>
              </a:lnSpc>
            </a:pPr>
            <a:r>
              <a:rPr lang="en-US" sz="2197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DevKumar Yadav</a:t>
            </a:r>
          </a:p>
          <a:p>
            <a:pPr algn="l">
              <a:lnSpc>
                <a:spcPts val="3075"/>
              </a:lnSpc>
              <a:spcBef>
                <a:spcPct val="0"/>
              </a:spcBef>
            </a:pPr>
            <a:r>
              <a:rPr lang="en-US" sz="2197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Gaurav </a:t>
            </a:r>
            <a:r>
              <a:rPr lang="en-US" sz="2197" b="1" dirty="0" err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Bhirwandekar</a:t>
            </a:r>
            <a:endParaRPr lang="en-US" sz="2197" b="1" dirty="0">
              <a:solidFill>
                <a:srgbClr val="FFFFFF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algn="l">
              <a:lnSpc>
                <a:spcPts val="3075"/>
              </a:lnSpc>
              <a:spcBef>
                <a:spcPct val="0"/>
              </a:spcBef>
            </a:pPr>
            <a:r>
              <a:rPr lang="en-US" sz="2197" b="1" dirty="0" err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Rehat</a:t>
            </a:r>
            <a:r>
              <a:rPr lang="en-US" sz="2197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Bagga</a:t>
            </a:r>
          </a:p>
          <a:p>
            <a:pPr algn="l">
              <a:lnSpc>
                <a:spcPts val="3075"/>
              </a:lnSpc>
              <a:spcBef>
                <a:spcPct val="0"/>
              </a:spcBef>
            </a:pPr>
            <a:r>
              <a:rPr lang="en-US" sz="2197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Aniruddha Ambike</a:t>
            </a:r>
          </a:p>
          <a:p>
            <a:pPr algn="l">
              <a:lnSpc>
                <a:spcPts val="3075"/>
              </a:lnSpc>
              <a:spcBef>
                <a:spcPct val="0"/>
              </a:spcBef>
            </a:pPr>
            <a:r>
              <a:rPr lang="en-US" sz="2197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Siddhant Bhagwat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529209"/>
            <a:ext cx="991885" cy="1361856"/>
          </a:xfrm>
          <a:custGeom>
            <a:avLst/>
            <a:gdLst/>
            <a:ahLst/>
            <a:cxnLst/>
            <a:rect l="l" t="t" r="r" b="b"/>
            <a:pathLst>
              <a:path w="991885" h="1361856">
                <a:moveTo>
                  <a:pt x="0" y="0"/>
                </a:moveTo>
                <a:lnTo>
                  <a:pt x="991885" y="0"/>
                </a:lnTo>
                <a:lnTo>
                  <a:pt x="991885" y="1361856"/>
                </a:lnTo>
                <a:lnTo>
                  <a:pt x="0" y="1361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798278" y="2009864"/>
            <a:ext cx="4917725" cy="6640198"/>
            <a:chOff x="0" y="0"/>
            <a:chExt cx="729905" cy="985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9905" cy="985560"/>
            </a:xfrm>
            <a:custGeom>
              <a:avLst/>
              <a:gdLst/>
              <a:ahLst/>
              <a:cxnLst/>
              <a:rect l="l" t="t" r="r" b="b"/>
              <a:pathLst>
                <a:path w="729905" h="985560">
                  <a:moveTo>
                    <a:pt x="0" y="0"/>
                  </a:moveTo>
                  <a:lnTo>
                    <a:pt x="729905" y="0"/>
                  </a:lnTo>
                  <a:lnTo>
                    <a:pt x="729905" y="985560"/>
                  </a:lnTo>
                  <a:lnTo>
                    <a:pt x="0" y="985560"/>
                  </a:lnTo>
                  <a:close/>
                </a:path>
              </a:pathLst>
            </a:custGeom>
            <a:blipFill>
              <a:blip r:embed="rId4"/>
              <a:stretch>
                <a:fillRect l="-51523" r="-5152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903199" y="2009864"/>
            <a:ext cx="2585714" cy="1776143"/>
            <a:chOff x="0" y="0"/>
            <a:chExt cx="976163" cy="6705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6163" cy="670533"/>
            </a:xfrm>
            <a:custGeom>
              <a:avLst/>
              <a:gdLst/>
              <a:ahLst/>
              <a:cxnLst/>
              <a:rect l="l" t="t" r="r" b="b"/>
              <a:pathLst>
                <a:path w="976163" h="670533">
                  <a:moveTo>
                    <a:pt x="0" y="0"/>
                  </a:moveTo>
                  <a:lnTo>
                    <a:pt x="976163" y="0"/>
                  </a:lnTo>
                  <a:lnTo>
                    <a:pt x="976163" y="670533"/>
                  </a:lnTo>
                  <a:lnTo>
                    <a:pt x="0" y="670533"/>
                  </a:lnTo>
                  <a:close/>
                </a:path>
              </a:pathLst>
            </a:custGeom>
            <a:blipFill>
              <a:blip r:embed="rId5"/>
              <a:stretch>
                <a:fillRect l="-1647" r="-164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903199" y="4125094"/>
            <a:ext cx="2585714" cy="4524967"/>
            <a:chOff x="0" y="0"/>
            <a:chExt cx="976163" cy="17082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6163" cy="1708274"/>
            </a:xfrm>
            <a:custGeom>
              <a:avLst/>
              <a:gdLst/>
              <a:ahLst/>
              <a:cxnLst/>
              <a:rect l="l" t="t" r="r" b="b"/>
              <a:pathLst>
                <a:path w="976163" h="1708274">
                  <a:moveTo>
                    <a:pt x="0" y="0"/>
                  </a:moveTo>
                  <a:lnTo>
                    <a:pt x="976163" y="0"/>
                  </a:lnTo>
                  <a:lnTo>
                    <a:pt x="976163" y="1708274"/>
                  </a:lnTo>
                  <a:lnTo>
                    <a:pt x="0" y="1708274"/>
                  </a:lnTo>
                  <a:close/>
                </a:path>
              </a:pathLst>
            </a:custGeom>
            <a:blipFill>
              <a:blip r:embed="rId6"/>
              <a:stretch>
                <a:fillRect l="-80596" r="-8059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34237" y="1986315"/>
            <a:ext cx="8473541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8"/>
              </a:lnSpc>
            </a:pPr>
            <a:r>
              <a:rPr lang="en-US" sz="8241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567535"/>
            <a:ext cx="8032845" cy="522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094" lvl="1" indent="-318547" algn="l">
              <a:lnSpc>
                <a:spcPts val="4131"/>
              </a:lnSpc>
              <a:buFont typeface="Arial"/>
              <a:buChar char="•"/>
            </a:pP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Agriculture plays a vital role in India's economy and food security. </a:t>
            </a:r>
          </a:p>
          <a:p>
            <a:pPr marL="637094" lvl="1" indent="-318547" algn="l">
              <a:lnSpc>
                <a:spcPts val="4131"/>
              </a:lnSpc>
              <a:buFont typeface="Arial"/>
              <a:buChar char="•"/>
            </a:pP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Crop yield is influenced by multiple environmental and soil factors such as rainfall, temperature, nutrient levels, and soil </a:t>
            </a:r>
            <a:r>
              <a:rPr lang="en-US" sz="2950" b="1" dirty="0" err="1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pH.</a:t>
            </a:r>
            <a:endParaRPr lang="en-US" sz="2950" b="1" dirty="0">
              <a:solidFill>
                <a:srgbClr val="2B3B29"/>
              </a:solidFill>
              <a:latin typeface="Lora Bold"/>
              <a:ea typeface="Lora Bold"/>
              <a:cs typeface="Lora Bold"/>
              <a:sym typeface="Lora Bold"/>
            </a:endParaRPr>
          </a:p>
          <a:p>
            <a:pPr marL="637094" lvl="1" indent="-318547" algn="l">
              <a:lnSpc>
                <a:spcPts val="4131"/>
              </a:lnSpc>
              <a:buFont typeface="Arial"/>
              <a:buChar char="•"/>
            </a:pP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Predicting crop yield accurately helps farmers make informed decisions regarding crop planning and resource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529209"/>
            <a:ext cx="991885" cy="1361856"/>
          </a:xfrm>
          <a:custGeom>
            <a:avLst/>
            <a:gdLst/>
            <a:ahLst/>
            <a:cxnLst/>
            <a:rect l="l" t="t" r="r" b="b"/>
            <a:pathLst>
              <a:path w="991885" h="1361856">
                <a:moveTo>
                  <a:pt x="0" y="0"/>
                </a:moveTo>
                <a:lnTo>
                  <a:pt x="991885" y="0"/>
                </a:lnTo>
                <a:lnTo>
                  <a:pt x="991885" y="1361856"/>
                </a:lnTo>
                <a:lnTo>
                  <a:pt x="0" y="1361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17857" y="859645"/>
            <a:ext cx="550423" cy="878960"/>
          </a:xfrm>
          <a:custGeom>
            <a:avLst/>
            <a:gdLst/>
            <a:ahLst/>
            <a:cxnLst/>
            <a:rect l="l" t="t" r="r" b="b"/>
            <a:pathLst>
              <a:path w="550423" h="878960">
                <a:moveTo>
                  <a:pt x="0" y="0"/>
                </a:moveTo>
                <a:lnTo>
                  <a:pt x="550423" y="0"/>
                </a:lnTo>
                <a:lnTo>
                  <a:pt x="550423" y="878960"/>
                </a:lnTo>
                <a:lnTo>
                  <a:pt x="0" y="878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52515" y="2891512"/>
            <a:ext cx="13675983" cy="102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sz="2950" b="1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Traditional crop yield estimation depends on manual observation and experience, which may not always produce reliable results.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14529" y="1559100"/>
            <a:ext cx="12341479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18"/>
              </a:lnSpc>
            </a:pPr>
            <a:r>
              <a:rPr lang="en-US" sz="8241" b="1" dirty="0">
                <a:solidFill>
                  <a:srgbClr val="55833D"/>
                </a:solidFill>
                <a:latin typeface="Lora Bold"/>
                <a:sym typeface="Lora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52515" y="4111960"/>
            <a:ext cx="8787765" cy="3734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527" lvl="1" algn="l">
              <a:lnSpc>
                <a:spcPts val="4195"/>
              </a:lnSpc>
            </a:pPr>
            <a:r>
              <a:rPr lang="en-US" sz="2997" dirty="0">
                <a:solidFill>
                  <a:srgbClr val="1E241E"/>
                </a:solidFill>
                <a:latin typeface="Lora Bold" charset="0"/>
                <a:ea typeface="Lora"/>
                <a:cs typeface="Lora"/>
                <a:sym typeface="Lora"/>
              </a:rPr>
              <a:t>Challenges:</a:t>
            </a:r>
          </a:p>
          <a:p>
            <a:pPr marL="647054" lvl="1" indent="-323527" algn="l">
              <a:lnSpc>
                <a:spcPts val="4195"/>
              </a:lnSpc>
              <a:buFont typeface="Arial"/>
              <a:buChar char="•"/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Changing climatic conditions</a:t>
            </a:r>
          </a:p>
          <a:p>
            <a:pPr marL="647054" lvl="1" indent="-323527" algn="l">
              <a:lnSpc>
                <a:spcPts val="4195"/>
              </a:lnSpc>
              <a:buFont typeface="Arial"/>
              <a:buChar char="•"/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Variation in soil nutrients</a:t>
            </a:r>
          </a:p>
          <a:p>
            <a:pPr marL="647054" lvl="1" indent="-323527" algn="l">
              <a:lnSpc>
                <a:spcPts val="4195"/>
              </a:lnSpc>
              <a:buFont typeface="Arial"/>
              <a:buChar char="•"/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Large amount of agricultural data</a:t>
            </a:r>
          </a:p>
          <a:p>
            <a:pPr marL="647054" lvl="1" indent="-323527" algn="l">
              <a:lnSpc>
                <a:spcPts val="4195"/>
              </a:lnSpc>
              <a:buFont typeface="Arial"/>
              <a:buChar char="•"/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Difficulty in estimating future yield accurately</a:t>
            </a:r>
          </a:p>
          <a:p>
            <a:pPr algn="l">
              <a:lnSpc>
                <a:spcPts val="4195"/>
              </a:lnSpc>
            </a:pPr>
            <a:endParaRPr lang="en-US" sz="2997" dirty="0">
              <a:solidFill>
                <a:srgbClr val="1E241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336222" y="7443021"/>
            <a:ext cx="13119786" cy="211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5"/>
              </a:lnSpc>
            </a:pPr>
            <a:r>
              <a:rPr lang="en-US" sz="2997" dirty="0">
                <a:solidFill>
                  <a:srgbClr val="1D2721"/>
                </a:solidFill>
                <a:latin typeface="Lora Bold" charset="0"/>
                <a:ea typeface="Lora"/>
                <a:cs typeface="Lora"/>
                <a:sym typeface="Lora"/>
              </a:rPr>
              <a:t>Need:</a:t>
            </a:r>
          </a:p>
          <a:p>
            <a:pPr algn="just">
              <a:lnSpc>
                <a:spcPts val="4195"/>
              </a:lnSpc>
            </a:pPr>
            <a:r>
              <a:rPr lang="en-US" sz="2997" dirty="0">
                <a:solidFill>
                  <a:srgbClr val="1E241E"/>
                </a:solidFill>
                <a:latin typeface="Lora"/>
                <a:sym typeface="Lora Bold"/>
              </a:rPr>
              <a:t>A data-driven prediction system that can estimate crop yield based on historical agricultural data.</a:t>
            </a:r>
          </a:p>
          <a:p>
            <a:pPr algn="just">
              <a:lnSpc>
                <a:spcPts val="4195"/>
              </a:lnSpc>
              <a:spcBef>
                <a:spcPct val="0"/>
              </a:spcBef>
            </a:pPr>
            <a:endParaRPr lang="en-US" sz="2997" b="1" dirty="0">
              <a:solidFill>
                <a:srgbClr val="415636"/>
              </a:solidFill>
              <a:latin typeface="Lora Bold"/>
              <a:ea typeface="Lora Bold"/>
              <a:cs typeface="Lora Bold"/>
              <a:sym typeface="Lora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6774" y="545331"/>
            <a:ext cx="7503078" cy="9242146"/>
            <a:chOff x="0" y="0"/>
            <a:chExt cx="1113632" cy="13717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3632" cy="1371750"/>
            </a:xfrm>
            <a:custGeom>
              <a:avLst/>
              <a:gdLst/>
              <a:ahLst/>
              <a:cxnLst/>
              <a:rect l="l" t="t" r="r" b="b"/>
              <a:pathLst>
                <a:path w="1113632" h="1371750">
                  <a:moveTo>
                    <a:pt x="0" y="0"/>
                  </a:moveTo>
                  <a:lnTo>
                    <a:pt x="1113632" y="0"/>
                  </a:lnTo>
                  <a:lnTo>
                    <a:pt x="1113632" y="1371750"/>
                  </a:lnTo>
                  <a:lnTo>
                    <a:pt x="0" y="1371750"/>
                  </a:lnTo>
                  <a:close/>
                </a:path>
              </a:pathLst>
            </a:custGeom>
            <a:blipFill>
              <a:blip r:embed="rId3"/>
              <a:stretch>
                <a:fillRect l="-41923" r="-41923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-532483">
            <a:off x="10027028" y="5938311"/>
            <a:ext cx="633036" cy="1130421"/>
          </a:xfrm>
          <a:custGeom>
            <a:avLst/>
            <a:gdLst/>
            <a:ahLst/>
            <a:cxnLst/>
            <a:rect l="l" t="t" r="r" b="b"/>
            <a:pathLst>
              <a:path w="633036" h="1130421">
                <a:moveTo>
                  <a:pt x="0" y="0"/>
                </a:moveTo>
                <a:lnTo>
                  <a:pt x="633036" y="0"/>
                </a:lnTo>
                <a:lnTo>
                  <a:pt x="633036" y="1130421"/>
                </a:lnTo>
                <a:lnTo>
                  <a:pt x="0" y="1130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919235" flipH="1">
            <a:off x="15081287" y="7202632"/>
            <a:ext cx="710259" cy="1268319"/>
          </a:xfrm>
          <a:custGeom>
            <a:avLst/>
            <a:gdLst/>
            <a:ahLst/>
            <a:cxnLst/>
            <a:rect l="l" t="t" r="r" b="b"/>
            <a:pathLst>
              <a:path w="710259" h="1268319">
                <a:moveTo>
                  <a:pt x="710259" y="0"/>
                </a:moveTo>
                <a:lnTo>
                  <a:pt x="0" y="0"/>
                </a:lnTo>
                <a:lnTo>
                  <a:pt x="0" y="1268319"/>
                </a:lnTo>
                <a:lnTo>
                  <a:pt x="710259" y="1268319"/>
                </a:lnTo>
                <a:lnTo>
                  <a:pt x="7102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60460" flipH="1">
            <a:off x="13631023" y="4541257"/>
            <a:ext cx="633036" cy="1130421"/>
          </a:xfrm>
          <a:custGeom>
            <a:avLst/>
            <a:gdLst/>
            <a:ahLst/>
            <a:cxnLst/>
            <a:rect l="l" t="t" r="r" b="b"/>
            <a:pathLst>
              <a:path w="633036" h="1130421">
                <a:moveTo>
                  <a:pt x="633035" y="0"/>
                </a:moveTo>
                <a:lnTo>
                  <a:pt x="0" y="0"/>
                </a:lnTo>
                <a:lnTo>
                  <a:pt x="0" y="1130421"/>
                </a:lnTo>
                <a:lnTo>
                  <a:pt x="633035" y="1130421"/>
                </a:lnTo>
                <a:lnTo>
                  <a:pt x="6330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334994" y="479652"/>
            <a:ext cx="13240266" cy="917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541" b="1">
                <a:solidFill>
                  <a:srgbClr val="009444"/>
                </a:solidFill>
                <a:latin typeface="Lora Bold"/>
                <a:ea typeface="Lora Bold"/>
                <a:cs typeface="Lora Bold"/>
                <a:sym typeface="Lora Bold"/>
              </a:rPr>
              <a:t>PROPOSED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34994" y="1599111"/>
            <a:ext cx="9340214" cy="102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1"/>
              </a:lnSpc>
              <a:spcBef>
                <a:spcPct val="0"/>
              </a:spcBef>
            </a:pPr>
            <a:r>
              <a:rPr lang="en-US" sz="2950" b="1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Our system predicts crop yield using crop-specific Ridge or Random Forest models.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79664" y="2848134"/>
            <a:ext cx="1865114" cy="2603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User Inputs</a:t>
            </a:r>
          </a:p>
          <a:p>
            <a:pPr marL="539107" lvl="1" indent="-269553" algn="l">
              <a:lnSpc>
                <a:spcPts val="3495"/>
              </a:lnSpc>
              <a:buFont typeface="Arial"/>
              <a:buChar char="•"/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State</a:t>
            </a:r>
          </a:p>
          <a:p>
            <a:pPr marL="539107" lvl="1" indent="-269553" algn="l">
              <a:lnSpc>
                <a:spcPts val="3495"/>
              </a:lnSpc>
              <a:buFont typeface="Arial"/>
              <a:buChar char="•"/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District</a:t>
            </a:r>
          </a:p>
          <a:p>
            <a:pPr marL="539107" lvl="1" indent="-269553" algn="l">
              <a:lnSpc>
                <a:spcPts val="3495"/>
              </a:lnSpc>
              <a:buFont typeface="Arial"/>
              <a:buChar char="•"/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Crop</a:t>
            </a:r>
          </a:p>
          <a:p>
            <a:pPr marL="539107" lvl="1" indent="-269553" algn="l">
              <a:lnSpc>
                <a:spcPts val="3495"/>
              </a:lnSpc>
              <a:buFont typeface="Arial"/>
              <a:buChar char="•"/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Season</a:t>
            </a:r>
          </a:p>
          <a:p>
            <a:pPr algn="l">
              <a:lnSpc>
                <a:spcPts val="3495"/>
              </a:lnSpc>
              <a:spcBef>
                <a:spcPct val="0"/>
              </a:spcBef>
            </a:pPr>
            <a:endParaRPr lang="en-US" sz="2497" b="1">
              <a:solidFill>
                <a:srgbClr val="000000"/>
              </a:solidFill>
              <a:latin typeface="Lora Bold"/>
              <a:ea typeface="Lora Bold"/>
              <a:cs typeface="Lora Bold"/>
              <a:sym typeface="Lo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673203" y="5670784"/>
            <a:ext cx="4223742" cy="41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  <a:spcBef>
                <a:spcPct val="0"/>
              </a:spcBef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Particular Crop Model Runs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73428" y="6902904"/>
            <a:ext cx="4863346" cy="8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Historical Records are analysed </a:t>
            </a:r>
          </a:p>
          <a:p>
            <a:pPr algn="ctr">
              <a:lnSpc>
                <a:spcPts val="3495"/>
              </a:lnSpc>
              <a:spcBef>
                <a:spcPct val="0"/>
              </a:spcBef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for that Specific Crop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2921" y="8118219"/>
            <a:ext cx="4136350" cy="8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  <a:spcBef>
                <a:spcPct val="0"/>
              </a:spcBef>
            </a:pPr>
            <a:r>
              <a:rPr lang="en-US" sz="2497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Selected Model Generates Predicted Yield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529209"/>
            <a:ext cx="991885" cy="1361856"/>
          </a:xfrm>
          <a:custGeom>
            <a:avLst/>
            <a:gdLst/>
            <a:ahLst/>
            <a:cxnLst/>
            <a:rect l="l" t="t" r="r" b="b"/>
            <a:pathLst>
              <a:path w="991885" h="1361856">
                <a:moveTo>
                  <a:pt x="0" y="0"/>
                </a:moveTo>
                <a:lnTo>
                  <a:pt x="991885" y="0"/>
                </a:lnTo>
                <a:lnTo>
                  <a:pt x="991885" y="1361856"/>
                </a:lnTo>
                <a:lnTo>
                  <a:pt x="0" y="1361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798278" y="2009864"/>
            <a:ext cx="4917725" cy="6640198"/>
            <a:chOff x="0" y="0"/>
            <a:chExt cx="729905" cy="985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9905" cy="985560"/>
            </a:xfrm>
            <a:custGeom>
              <a:avLst/>
              <a:gdLst/>
              <a:ahLst/>
              <a:cxnLst/>
              <a:rect l="l" t="t" r="r" b="b"/>
              <a:pathLst>
                <a:path w="729905" h="985560">
                  <a:moveTo>
                    <a:pt x="0" y="0"/>
                  </a:moveTo>
                  <a:lnTo>
                    <a:pt x="729905" y="0"/>
                  </a:lnTo>
                  <a:lnTo>
                    <a:pt x="729905" y="985560"/>
                  </a:lnTo>
                  <a:lnTo>
                    <a:pt x="0" y="985560"/>
                  </a:lnTo>
                  <a:close/>
                </a:path>
              </a:pathLst>
            </a:custGeom>
            <a:blipFill>
              <a:blip r:embed="rId4"/>
              <a:stretch>
                <a:fillRect l="-51523" r="-5152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903199" y="2009864"/>
            <a:ext cx="2585714" cy="1776143"/>
            <a:chOff x="0" y="0"/>
            <a:chExt cx="976163" cy="6705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6163" cy="670533"/>
            </a:xfrm>
            <a:custGeom>
              <a:avLst/>
              <a:gdLst/>
              <a:ahLst/>
              <a:cxnLst/>
              <a:rect l="l" t="t" r="r" b="b"/>
              <a:pathLst>
                <a:path w="976163" h="670533">
                  <a:moveTo>
                    <a:pt x="0" y="0"/>
                  </a:moveTo>
                  <a:lnTo>
                    <a:pt x="976163" y="0"/>
                  </a:lnTo>
                  <a:lnTo>
                    <a:pt x="976163" y="670533"/>
                  </a:lnTo>
                  <a:lnTo>
                    <a:pt x="0" y="670533"/>
                  </a:lnTo>
                  <a:close/>
                </a:path>
              </a:pathLst>
            </a:custGeom>
            <a:blipFill>
              <a:blip r:embed="rId5"/>
              <a:stretch>
                <a:fillRect l="-1647" r="-164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903199" y="4125094"/>
            <a:ext cx="2585714" cy="4524967"/>
            <a:chOff x="0" y="0"/>
            <a:chExt cx="976163" cy="17082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6163" cy="1708274"/>
            </a:xfrm>
            <a:custGeom>
              <a:avLst/>
              <a:gdLst/>
              <a:ahLst/>
              <a:cxnLst/>
              <a:rect l="l" t="t" r="r" b="b"/>
              <a:pathLst>
                <a:path w="976163" h="1708274">
                  <a:moveTo>
                    <a:pt x="0" y="0"/>
                  </a:moveTo>
                  <a:lnTo>
                    <a:pt x="976163" y="0"/>
                  </a:lnTo>
                  <a:lnTo>
                    <a:pt x="976163" y="1708274"/>
                  </a:lnTo>
                  <a:lnTo>
                    <a:pt x="0" y="1708274"/>
                  </a:lnTo>
                  <a:close/>
                </a:path>
              </a:pathLst>
            </a:custGeom>
            <a:blipFill>
              <a:blip r:embed="rId6"/>
              <a:stretch>
                <a:fillRect l="-80596" r="-8059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34237" y="1986315"/>
            <a:ext cx="8847963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18"/>
              </a:lnSpc>
            </a:pPr>
            <a:r>
              <a:rPr lang="en-US" sz="8000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FUNCTIONALITY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567535"/>
            <a:ext cx="8032845" cy="469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094" lvl="1" indent="-318547" algn="l">
              <a:lnSpc>
                <a:spcPts val="4131"/>
              </a:lnSpc>
              <a:buFont typeface="Arial"/>
              <a:buChar char="•"/>
            </a:pP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The user selects a state, district, crop, season and either Random Forest or Ridge.</a:t>
            </a:r>
          </a:p>
          <a:p>
            <a:pPr marL="637094" lvl="1" indent="-318547" algn="l">
              <a:lnSpc>
                <a:spcPts val="4131"/>
              </a:lnSpc>
              <a:buFont typeface="Arial"/>
              <a:buChar char="•"/>
            </a:pP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The app shows predicted yield in </a:t>
            </a:r>
            <a:r>
              <a:rPr lang="en-US" sz="2950" b="1" dirty="0" err="1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tonnes</a:t>
            </a: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 per hectare; the detailed report includes history, model metrics and plots.</a:t>
            </a:r>
          </a:p>
          <a:p>
            <a:pPr marL="637094" lvl="1" indent="-318547" algn="l">
              <a:lnSpc>
                <a:spcPts val="4131"/>
              </a:lnSpc>
              <a:buFont typeface="Arial"/>
              <a:buChar char="•"/>
            </a:pP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Stakeholders: farmers, agronomists, researchers and planners can review estimates.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F7CD45E5-D7A5-F7B9-97C1-B87F240A1E03}"/>
              </a:ext>
            </a:extLst>
          </p:cNvPr>
          <p:cNvSpPr/>
          <p:nvPr/>
        </p:nvSpPr>
        <p:spPr>
          <a:xfrm>
            <a:off x="3086703" y="2247443"/>
            <a:ext cx="3993402" cy="200840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DF7AC0-C592-6139-9604-5AC70948B3E5}"/>
              </a:ext>
            </a:extLst>
          </p:cNvPr>
          <p:cNvSpPr/>
          <p:nvPr/>
        </p:nvSpPr>
        <p:spPr>
          <a:xfrm>
            <a:off x="2999727" y="4676664"/>
            <a:ext cx="3993402" cy="200840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508B11-04ED-48C1-7934-610E6F805919}"/>
              </a:ext>
            </a:extLst>
          </p:cNvPr>
          <p:cNvSpPr/>
          <p:nvPr/>
        </p:nvSpPr>
        <p:spPr>
          <a:xfrm>
            <a:off x="5057506" y="6764900"/>
            <a:ext cx="3476894" cy="200840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5F4D2DC-6733-9122-11F7-71F016E37488}"/>
              </a:ext>
            </a:extLst>
          </p:cNvPr>
          <p:cNvSpPr/>
          <p:nvPr/>
        </p:nvSpPr>
        <p:spPr>
          <a:xfrm>
            <a:off x="9278066" y="6576785"/>
            <a:ext cx="6310490" cy="228507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9A01B1-4C73-A397-1317-3A62616855E1}"/>
              </a:ext>
            </a:extLst>
          </p:cNvPr>
          <p:cNvSpPr/>
          <p:nvPr/>
        </p:nvSpPr>
        <p:spPr>
          <a:xfrm>
            <a:off x="13465433" y="4700016"/>
            <a:ext cx="3993402" cy="200840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C844682-17B8-FBD0-47A0-AB8E51E93826}"/>
              </a:ext>
            </a:extLst>
          </p:cNvPr>
          <p:cNvSpPr/>
          <p:nvPr/>
        </p:nvSpPr>
        <p:spPr>
          <a:xfrm>
            <a:off x="12166928" y="2559975"/>
            <a:ext cx="3993402" cy="200840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DE5E3A-0FEA-2CB1-35C5-169483D03252}"/>
              </a:ext>
            </a:extLst>
          </p:cNvPr>
          <p:cNvSpPr/>
          <p:nvPr/>
        </p:nvSpPr>
        <p:spPr>
          <a:xfrm>
            <a:off x="8083786" y="2266723"/>
            <a:ext cx="3048000" cy="200840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reeform 2"/>
          <p:cNvSpPr/>
          <p:nvPr/>
        </p:nvSpPr>
        <p:spPr>
          <a:xfrm rot="-3245476" flipH="1">
            <a:off x="11059441" y="1648658"/>
            <a:ext cx="1081376" cy="1931029"/>
          </a:xfrm>
          <a:custGeom>
            <a:avLst/>
            <a:gdLst/>
            <a:ahLst/>
            <a:cxnLst/>
            <a:rect l="l" t="t" r="r" b="b"/>
            <a:pathLst>
              <a:path w="1081376" h="1931029">
                <a:moveTo>
                  <a:pt x="1081377" y="0"/>
                </a:moveTo>
                <a:lnTo>
                  <a:pt x="0" y="0"/>
                </a:lnTo>
                <a:lnTo>
                  <a:pt x="0" y="1931030"/>
                </a:lnTo>
                <a:lnTo>
                  <a:pt x="1081377" y="1931030"/>
                </a:lnTo>
                <a:lnTo>
                  <a:pt x="10813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89246" y="389033"/>
            <a:ext cx="12474603" cy="1091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0"/>
              </a:lnSpc>
            </a:pPr>
            <a:r>
              <a:rPr lang="en-US" sz="7841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SYSTEM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62277" y="2617778"/>
            <a:ext cx="2138720" cy="49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7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User Inputs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93883" y="3016160"/>
            <a:ext cx="3307675" cy="101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5"/>
              </a:lnSpc>
            </a:pPr>
            <a:r>
              <a:rPr lang="en-US" sz="2997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Fetch all required </a:t>
            </a:r>
          </a:p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7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data from 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65433" y="5277433"/>
            <a:ext cx="4246245" cy="49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7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Clean and Process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5424" y="7304429"/>
            <a:ext cx="5885974" cy="101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5"/>
              </a:lnSpc>
            </a:pPr>
            <a:r>
              <a:rPr lang="en-US" sz="2997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Load Specific trained ML model </a:t>
            </a:r>
          </a:p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7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for the crop selected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32278" y="7304429"/>
            <a:ext cx="2663309" cy="49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7" b="1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Run ML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75640" y="5277433"/>
            <a:ext cx="3412822" cy="49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7" b="1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Predict Crop Yield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87703" y="2775550"/>
            <a:ext cx="3695369" cy="49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7" b="1" dirty="0">
                <a:solidFill>
                  <a:srgbClr val="55833D"/>
                </a:solidFill>
                <a:latin typeface="Lora Bold"/>
                <a:ea typeface="Lora Bold"/>
                <a:cs typeface="Lora Bold"/>
                <a:sym typeface="Lora Bold"/>
              </a:rPr>
              <a:t>Display Result on UI</a:t>
            </a:r>
          </a:p>
        </p:txBody>
      </p:sp>
      <p:sp>
        <p:nvSpPr>
          <p:cNvPr id="11" name="Freeform 11"/>
          <p:cNvSpPr/>
          <p:nvPr/>
        </p:nvSpPr>
        <p:spPr>
          <a:xfrm rot="-1152755" flipH="1">
            <a:off x="16240558" y="3727152"/>
            <a:ext cx="746473" cy="1332988"/>
          </a:xfrm>
          <a:custGeom>
            <a:avLst/>
            <a:gdLst/>
            <a:ahLst/>
            <a:cxnLst/>
            <a:rect l="l" t="t" r="r" b="b"/>
            <a:pathLst>
              <a:path w="746473" h="1332988">
                <a:moveTo>
                  <a:pt x="746473" y="0"/>
                </a:moveTo>
                <a:lnTo>
                  <a:pt x="0" y="0"/>
                </a:lnTo>
                <a:lnTo>
                  <a:pt x="0" y="1332988"/>
                </a:lnTo>
                <a:lnTo>
                  <a:pt x="746473" y="1332988"/>
                </a:lnTo>
                <a:lnTo>
                  <a:pt x="7464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9592957" flipH="1">
            <a:off x="3773152" y="6406741"/>
            <a:ext cx="1081376" cy="1931029"/>
          </a:xfrm>
          <a:custGeom>
            <a:avLst/>
            <a:gdLst/>
            <a:ahLst/>
            <a:cxnLst/>
            <a:rect l="l" t="t" r="r" b="b"/>
            <a:pathLst>
              <a:path w="1081376" h="1931029">
                <a:moveTo>
                  <a:pt x="1081376" y="0"/>
                </a:moveTo>
                <a:lnTo>
                  <a:pt x="0" y="0"/>
                </a:lnTo>
                <a:lnTo>
                  <a:pt x="0" y="1931029"/>
                </a:lnTo>
                <a:lnTo>
                  <a:pt x="1081376" y="1931029"/>
                </a:lnTo>
                <a:lnTo>
                  <a:pt x="10813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3743753" flipH="1">
            <a:off x="15886195" y="6161477"/>
            <a:ext cx="1190616" cy="2126100"/>
          </a:xfrm>
          <a:custGeom>
            <a:avLst/>
            <a:gdLst/>
            <a:ahLst/>
            <a:cxnLst/>
            <a:rect l="l" t="t" r="r" b="b"/>
            <a:pathLst>
              <a:path w="1190616" h="2126100">
                <a:moveTo>
                  <a:pt x="1190616" y="0"/>
                </a:moveTo>
                <a:lnTo>
                  <a:pt x="0" y="0"/>
                </a:lnTo>
                <a:lnTo>
                  <a:pt x="0" y="2126100"/>
                </a:lnTo>
                <a:lnTo>
                  <a:pt x="1190616" y="2126100"/>
                </a:lnTo>
                <a:lnTo>
                  <a:pt x="11906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6419087" flipH="1">
            <a:off x="8424711" y="7728262"/>
            <a:ext cx="1170448" cy="2090085"/>
          </a:xfrm>
          <a:custGeom>
            <a:avLst/>
            <a:gdLst/>
            <a:ahLst/>
            <a:cxnLst/>
            <a:rect l="l" t="t" r="r" b="b"/>
            <a:pathLst>
              <a:path w="1170448" h="2090085">
                <a:moveTo>
                  <a:pt x="1170447" y="0"/>
                </a:moveTo>
                <a:lnTo>
                  <a:pt x="0" y="0"/>
                </a:lnTo>
                <a:lnTo>
                  <a:pt x="0" y="2090086"/>
                </a:lnTo>
                <a:lnTo>
                  <a:pt x="1170447" y="2090086"/>
                </a:lnTo>
                <a:lnTo>
                  <a:pt x="11704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9798539" flipH="1">
            <a:off x="2554076" y="3529638"/>
            <a:ext cx="891301" cy="1591609"/>
          </a:xfrm>
          <a:custGeom>
            <a:avLst/>
            <a:gdLst/>
            <a:ahLst/>
            <a:cxnLst/>
            <a:rect l="l" t="t" r="r" b="b"/>
            <a:pathLst>
              <a:path w="891301" h="1591609">
                <a:moveTo>
                  <a:pt x="891301" y="0"/>
                </a:moveTo>
                <a:lnTo>
                  <a:pt x="0" y="0"/>
                </a:lnTo>
                <a:lnTo>
                  <a:pt x="0" y="1591608"/>
                </a:lnTo>
                <a:lnTo>
                  <a:pt x="891301" y="1591608"/>
                </a:lnTo>
                <a:lnTo>
                  <a:pt x="8913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57157" y="561989"/>
            <a:ext cx="12474603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8"/>
              </a:lnSpc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IMPLEMENTATION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3000" y="2171700"/>
            <a:ext cx="15192235" cy="6488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IN" sz="3200" dirty="0"/>
          </a:p>
          <a:p>
            <a:pPr marL="514350" lvl="0" indent="-514350">
              <a:buAutoNum type="arabicPeriod"/>
            </a:pPr>
            <a:r>
              <a:rPr lang="en-IN" sz="2997" dirty="0">
                <a:solidFill>
                  <a:srgbClr val="1E241E"/>
                </a:solidFill>
                <a:latin typeface="Lora"/>
              </a:rPr>
              <a:t>Prepare data: fill missing values and encode categories.</a:t>
            </a: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r>
              <a:rPr lang="en-IN" sz="2997" dirty="0">
                <a:solidFill>
                  <a:srgbClr val="1E241E"/>
                </a:solidFill>
                <a:latin typeface="Lora"/>
              </a:rPr>
              <a:t>2. Train a Ridge and a Random Forest model for each crop.</a:t>
            </a: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r>
              <a:rPr lang="en-IN" sz="2997" dirty="0">
                <a:solidFill>
                  <a:srgbClr val="1E241E"/>
                </a:solidFill>
                <a:latin typeface="Lora"/>
              </a:rPr>
              <a:t>3. Evaluate models with an 80/20 split using MAE, RMSE and R².</a:t>
            </a: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r>
              <a:rPr lang="en-IN" sz="2997" dirty="0">
                <a:solidFill>
                  <a:srgbClr val="1E241E"/>
                </a:solidFill>
                <a:latin typeface="Lora"/>
              </a:rPr>
              <a:t>4. Predict yield using recent local records and the saved crop model.</a:t>
            </a: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endParaRPr lang="en-IN" sz="2997" dirty="0">
              <a:solidFill>
                <a:srgbClr val="1E241E"/>
              </a:solidFill>
              <a:latin typeface="Lora"/>
            </a:endParaRPr>
          </a:p>
          <a:p>
            <a:pPr lvl="0"/>
            <a:r>
              <a:rPr lang="en-IN" sz="2997" dirty="0">
                <a:solidFill>
                  <a:srgbClr val="1E241E"/>
                </a:solidFill>
                <a:latin typeface="Lora"/>
              </a:rPr>
              <a:t>5. Display the estimate and detailed report in the </a:t>
            </a:r>
            <a:r>
              <a:rPr lang="en-IN" sz="2997" dirty="0" err="1">
                <a:solidFill>
                  <a:srgbClr val="1E241E"/>
                </a:solidFill>
                <a:latin typeface="Lora"/>
              </a:rPr>
              <a:t>Tkinter</a:t>
            </a:r>
            <a:r>
              <a:rPr lang="en-IN" sz="2997" dirty="0">
                <a:solidFill>
                  <a:srgbClr val="1E241E"/>
                </a:solidFill>
                <a:latin typeface="Lora"/>
              </a:rPr>
              <a:t>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4369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" y="5283837"/>
            <a:ext cx="18287998" cy="4959471"/>
            <a:chOff x="0" y="0"/>
            <a:chExt cx="2867846" cy="834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67846" cy="834102"/>
            </a:xfrm>
            <a:custGeom>
              <a:avLst/>
              <a:gdLst/>
              <a:ahLst/>
              <a:cxnLst/>
              <a:rect l="l" t="t" r="r" b="b"/>
              <a:pathLst>
                <a:path w="2867846" h="834102">
                  <a:moveTo>
                    <a:pt x="0" y="0"/>
                  </a:moveTo>
                  <a:lnTo>
                    <a:pt x="2867846" y="0"/>
                  </a:lnTo>
                  <a:lnTo>
                    <a:pt x="2867846" y="834102"/>
                  </a:lnTo>
                  <a:lnTo>
                    <a:pt x="0" y="834102"/>
                  </a:lnTo>
                  <a:close/>
                </a:path>
              </a:pathLst>
            </a:custGeom>
            <a:blipFill>
              <a:blip r:embed="rId3"/>
              <a:stretch>
                <a:fillRect l="-10967" r="-10286" b="-65743"/>
              </a:stretch>
            </a:blipFill>
            <a:ln w="47625" cap="sq">
              <a:solidFill>
                <a:srgbClr val="55833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28700" y="2112311"/>
            <a:ext cx="545111" cy="535016"/>
            <a:chOff x="0" y="0"/>
            <a:chExt cx="685800" cy="673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5800" cy="679450"/>
            </a:xfrm>
            <a:custGeom>
              <a:avLst/>
              <a:gdLst/>
              <a:ahLst/>
              <a:cxnLst/>
              <a:rect l="l" t="t" r="r" b="b"/>
              <a:pathLst>
                <a:path w="685800" h="679450">
                  <a:moveTo>
                    <a:pt x="342900" y="0"/>
                  </a:moveTo>
                  <a:lnTo>
                    <a:pt x="382270" y="210820"/>
                  </a:lnTo>
                  <a:lnTo>
                    <a:pt x="529590" y="54610"/>
                  </a:lnTo>
                  <a:lnTo>
                    <a:pt x="449580" y="254000"/>
                  </a:lnTo>
                  <a:lnTo>
                    <a:pt x="657860" y="201930"/>
                  </a:lnTo>
                  <a:lnTo>
                    <a:pt x="482600" y="326390"/>
                  </a:lnTo>
                  <a:lnTo>
                    <a:pt x="685800" y="396240"/>
                  </a:lnTo>
                  <a:lnTo>
                    <a:pt x="471170" y="405130"/>
                  </a:lnTo>
                  <a:lnTo>
                    <a:pt x="604520" y="572770"/>
                  </a:lnTo>
                  <a:lnTo>
                    <a:pt x="419100" y="464820"/>
                  </a:lnTo>
                  <a:lnTo>
                    <a:pt x="440690" y="679450"/>
                  </a:lnTo>
                  <a:lnTo>
                    <a:pt x="342900" y="487680"/>
                  </a:lnTo>
                  <a:lnTo>
                    <a:pt x="245110" y="679450"/>
                  </a:lnTo>
                  <a:lnTo>
                    <a:pt x="266700" y="464820"/>
                  </a:lnTo>
                  <a:lnTo>
                    <a:pt x="81280" y="572770"/>
                  </a:lnTo>
                  <a:lnTo>
                    <a:pt x="214630" y="405130"/>
                  </a:lnTo>
                  <a:lnTo>
                    <a:pt x="0" y="396240"/>
                  </a:lnTo>
                  <a:lnTo>
                    <a:pt x="203200" y="326390"/>
                  </a:lnTo>
                  <a:lnTo>
                    <a:pt x="27940" y="201930"/>
                  </a:lnTo>
                  <a:lnTo>
                    <a:pt x="236220" y="254000"/>
                  </a:lnTo>
                  <a:lnTo>
                    <a:pt x="156210" y="54610"/>
                  </a:lnTo>
                  <a:lnTo>
                    <a:pt x="303530" y="210820"/>
                  </a:lnTo>
                  <a:close/>
                </a:path>
              </a:pathLst>
            </a:custGeom>
            <a:solidFill>
              <a:srgbClr val="55833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03200" y="279400"/>
              <a:ext cx="279400" cy="20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6309" y="4641693"/>
            <a:ext cx="458115" cy="45811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5833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046420" y="498702"/>
            <a:ext cx="12474603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8"/>
              </a:lnSpc>
            </a:pPr>
            <a:r>
              <a:rPr lang="en-US" sz="8241" b="1">
                <a:solidFill>
                  <a:srgbClr val="5B7344"/>
                </a:solidFill>
                <a:latin typeface="Lora Bold"/>
                <a:ea typeface="Lora Bold"/>
                <a:cs typeface="Lora Bold"/>
                <a:sym typeface="Lora Bold"/>
              </a:rPr>
              <a:t>DATASET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56816" y="9474974"/>
            <a:ext cx="2931399" cy="220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797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Project CSV 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75389" y="1615848"/>
            <a:ext cx="7616666" cy="39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spcBef>
                <a:spcPct val="0"/>
              </a:spcBef>
            </a:pPr>
            <a:r>
              <a:rPr lang="en-US" sz="2397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We merged four datasets to bring the features together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0924" y="2183884"/>
            <a:ext cx="1595676" cy="37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197" dirty="0">
                <a:solidFill>
                  <a:srgbClr val="415636"/>
                </a:solidFill>
                <a:latin typeface="Lora"/>
                <a:ea typeface="Lora"/>
                <a:cs typeface="Lora"/>
                <a:sym typeface="Lora"/>
              </a:rPr>
              <a:t>FEATURES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1255" y="2766302"/>
            <a:ext cx="2017720" cy="2403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State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District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Crop</a:t>
            </a:r>
          </a:p>
          <a:p>
            <a:pPr algn="l">
              <a:lnSpc>
                <a:spcPts val="3775"/>
              </a:lnSpc>
            </a:pPr>
            <a:endParaRPr lang="en-US" sz="2697" dirty="0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3775"/>
              </a:lnSpc>
            </a:pPr>
            <a:endParaRPr lang="en-US" sz="2697" dirty="0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476581" y="2768768"/>
            <a:ext cx="3107650" cy="188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Crop Type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Season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Average Rainfall</a:t>
            </a:r>
          </a:p>
          <a:p>
            <a:pPr algn="l">
              <a:lnSpc>
                <a:spcPts val="3775"/>
              </a:lnSpc>
            </a:pPr>
            <a:endParaRPr lang="en-US" sz="2697" dirty="0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437060" y="2783129"/>
            <a:ext cx="4209874" cy="188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Average Temperature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Boron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Copper</a:t>
            </a:r>
          </a:p>
          <a:p>
            <a:pPr algn="l">
              <a:lnSpc>
                <a:spcPts val="3775"/>
              </a:lnSpc>
            </a:pPr>
            <a:endParaRPr lang="en-US" sz="2697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475971" y="2783129"/>
            <a:ext cx="3115508" cy="140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Iron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Nitrogen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Organic Carbon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58800" y="2756115"/>
            <a:ext cx="2590800" cy="1916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Phosphorus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Potassium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Soil pH</a:t>
            </a:r>
          </a:p>
          <a:p>
            <a:pPr algn="l">
              <a:lnSpc>
                <a:spcPts val="3775"/>
              </a:lnSpc>
            </a:pPr>
            <a:endParaRPr lang="en-US" sz="2697" dirty="0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023331" y="2783129"/>
            <a:ext cx="1959869" cy="1428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Sulphur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Zinc</a:t>
            </a:r>
          </a:p>
          <a:p>
            <a:pPr algn="l">
              <a:lnSpc>
                <a:spcPts val="3775"/>
              </a:lnSpc>
            </a:pPr>
            <a:endParaRPr lang="en-US" sz="2697" dirty="0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65684" y="4630048"/>
            <a:ext cx="12017294" cy="4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  <a:spcBef>
                <a:spcPct val="0"/>
              </a:spcBef>
            </a:pPr>
            <a:r>
              <a:rPr lang="en-US" sz="2797" dirty="0">
                <a:solidFill>
                  <a:srgbClr val="293B26"/>
                </a:solidFill>
                <a:latin typeface="Lora"/>
                <a:ea typeface="Lora"/>
                <a:cs typeface="Lora"/>
                <a:sym typeface="Lora"/>
              </a:rPr>
              <a:t>Target Variable : Yield (Tonnes/Hectare)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20913" y="2587462"/>
            <a:ext cx="6999603" cy="5477754"/>
          </a:xfrm>
          <a:custGeom>
            <a:avLst/>
            <a:gdLst/>
            <a:ahLst/>
            <a:cxnLst/>
            <a:rect l="l" t="t" r="r" b="b"/>
            <a:pathLst>
              <a:path w="6999603" h="5477754">
                <a:moveTo>
                  <a:pt x="0" y="0"/>
                </a:moveTo>
                <a:lnTo>
                  <a:pt x="6999604" y="0"/>
                </a:lnTo>
                <a:lnTo>
                  <a:pt x="6999604" y="5477754"/>
                </a:lnTo>
                <a:lnTo>
                  <a:pt x="0" y="5477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00"/>
            </a:stretch>
          </a:blipFill>
          <a:ln w="9525" cap="sq">
            <a:solidFill>
              <a:srgbClr val="52511E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30037" y="417942"/>
            <a:ext cx="16995662" cy="975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7"/>
              </a:lnSpc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RANDOM FOREST ALGORITHM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88913" y="256401"/>
            <a:ext cx="673573" cy="49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1"/>
              </a:lnSpc>
              <a:spcBef>
                <a:spcPct val="0"/>
              </a:spcBef>
            </a:pPr>
            <a:r>
              <a:rPr lang="en-US" sz="2987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9345" y="1884405"/>
            <a:ext cx="10012007" cy="2637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150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Why Random Forest?</a:t>
            </a:r>
          </a:p>
          <a:p>
            <a:pPr algn="l">
              <a:lnSpc>
                <a:spcPts val="4131"/>
              </a:lnSpc>
              <a:spcBef>
                <a:spcPct val="0"/>
              </a:spcBef>
            </a:pPr>
            <a:r>
              <a:rPr lang="en-US" sz="2950" b="1" dirty="0">
                <a:solidFill>
                  <a:srgbClr val="293B26"/>
                </a:solidFill>
                <a:latin typeface="Lora Bold"/>
                <a:ea typeface="Lora Bold"/>
                <a:cs typeface="Lora Bold"/>
                <a:sym typeface="Lora Bold"/>
              </a:rPr>
              <a:t>Random Forest combines many decision trees and averages their yield estimates.</a:t>
            </a:r>
          </a:p>
          <a:p>
            <a:pPr algn="l">
              <a:lnSpc>
                <a:spcPts val="4131"/>
              </a:lnSpc>
              <a:spcBef>
                <a:spcPct val="0"/>
              </a:spcBef>
            </a:pPr>
            <a:endParaRPr lang="en-US" sz="2950" b="1" dirty="0">
              <a:solidFill>
                <a:srgbClr val="293B26"/>
              </a:solidFill>
              <a:latin typeface="Lora Bold"/>
              <a:ea typeface="Lora Bold"/>
              <a:cs typeface="Lora Bold"/>
              <a:sym typeface="Lor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62418" y="3629981"/>
            <a:ext cx="9664370" cy="3496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 dirty="0">
                <a:solidFill>
                  <a:srgbClr val="1E241E"/>
                </a:solidFill>
                <a:latin typeface="Lora Bold"/>
                <a:ea typeface="Lora Bold"/>
                <a:cs typeface="Lora Bold"/>
                <a:sym typeface="Lora Bold"/>
              </a:rPr>
              <a:t>Working :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Create many decision trees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Pick Random Features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Each tree Makes a Prediction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Combine the Predictions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Final Result</a:t>
            </a:r>
          </a:p>
          <a:p>
            <a:pPr algn="l">
              <a:lnSpc>
                <a:spcPts val="3775"/>
              </a:lnSpc>
              <a:spcBef>
                <a:spcPct val="0"/>
              </a:spcBef>
            </a:pPr>
            <a:endParaRPr lang="en-US" sz="2797" dirty="0">
              <a:solidFill>
                <a:srgbClr val="52511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2418" y="6832021"/>
            <a:ext cx="9664370" cy="3356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 dirty="0">
                <a:solidFill>
                  <a:srgbClr val="1E241E"/>
                </a:solidFill>
                <a:latin typeface="Lora Bold"/>
                <a:ea typeface="Lora Bold"/>
                <a:cs typeface="Lora Bold"/>
                <a:sym typeface="Lora Bold"/>
              </a:rPr>
              <a:t>Parameters Used :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 err="1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n_estimators</a:t>
            </a:r>
            <a:r>
              <a:rPr lang="en-US" sz="26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 : 300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 err="1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max_depth</a:t>
            </a:r>
            <a:r>
              <a:rPr lang="en-US" sz="26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 : 20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 err="1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min_samples_split</a:t>
            </a:r>
            <a:r>
              <a:rPr lang="en-US" sz="26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 : 5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 err="1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min_samples_leaf</a:t>
            </a:r>
            <a:r>
              <a:rPr lang="en-US" sz="26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 : 2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697" dirty="0" err="1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random_state</a:t>
            </a:r>
            <a:r>
              <a:rPr lang="en-US" sz="2697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 : 42</a:t>
            </a:r>
          </a:p>
          <a:p>
            <a:pPr marL="582286" lvl="1" indent="-291143" algn="l">
              <a:lnSpc>
                <a:spcPts val="3775"/>
              </a:lnSpc>
              <a:spcBef>
                <a:spcPct val="0"/>
              </a:spcBef>
              <a:buFont typeface="Arial"/>
              <a:buChar char="•"/>
            </a:pPr>
            <a:endParaRPr lang="en-US" sz="2697" dirty="0">
              <a:solidFill>
                <a:srgbClr val="52511E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57157" y="561989"/>
            <a:ext cx="12474603" cy="983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7"/>
              </a:lnSpc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TECHNOLOGIES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5965" y="2210840"/>
            <a:ext cx="9037866" cy="76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55833D"/>
                </a:solidFill>
                <a:latin typeface="Lora Bold" charset="0"/>
                <a:sym typeface="Lora"/>
              </a:rPr>
              <a:t>Programming Language : </a:t>
            </a:r>
            <a:r>
              <a:rPr lang="en-US" sz="4553" b="1" dirty="0">
                <a:solidFill>
                  <a:srgbClr val="2B3B29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5965" y="3533456"/>
            <a:ext cx="11718218" cy="752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5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55833D"/>
                </a:solidFill>
                <a:latin typeface="Lora Bold"/>
                <a:sym typeface="Lora"/>
              </a:rPr>
              <a:t>Libraries : </a:t>
            </a:r>
            <a:r>
              <a:rPr lang="en-US" sz="4496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Pandas ,  NumPy , Scikit-learn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5965" y="6214976"/>
            <a:ext cx="979310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55833D"/>
                </a:solidFill>
                <a:latin typeface="Lora Bold"/>
                <a:sym typeface="Lora"/>
              </a:rPr>
              <a:t>IDE :</a:t>
            </a:r>
            <a:r>
              <a:rPr lang="en-US" sz="4500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450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VS Code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5965" y="4840474"/>
            <a:ext cx="548193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55833D"/>
                </a:solidFill>
                <a:latin typeface="Lora Bold"/>
                <a:sym typeface="Lora"/>
              </a:rPr>
              <a:t>GUI :</a:t>
            </a:r>
            <a:r>
              <a:rPr lang="en-US" sz="4500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4500" b="1" dirty="0" err="1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Tkinter</a:t>
            </a:r>
            <a:endParaRPr lang="en-US" sz="4500" b="1" dirty="0">
              <a:solidFill>
                <a:srgbClr val="2B3B29"/>
              </a:solidFill>
              <a:latin typeface="Lora Bold"/>
              <a:ea typeface="Lora Bold"/>
              <a:cs typeface="Lora Bold"/>
              <a:sym typeface="Lor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85965" y="7633405"/>
            <a:ext cx="1283207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55833D"/>
                </a:solidFill>
                <a:latin typeface="Lora Bold"/>
                <a:sym typeface="Lora"/>
              </a:rPr>
              <a:t>Dataset </a:t>
            </a:r>
            <a:r>
              <a:rPr lang="en-US" sz="4500" b="1" dirty="0">
                <a:solidFill>
                  <a:srgbClr val="55833D"/>
                </a:solidFill>
                <a:latin typeface="Lora Bold"/>
                <a:sym typeface="Lora Bold"/>
              </a:rPr>
              <a:t>Processing : </a:t>
            </a:r>
            <a:r>
              <a:rPr lang="en-US" sz="450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CSV , One-Hot Encoding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F096-33AB-CC8A-1198-F449D2BD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F2A4B1-EAD9-6832-E130-FFD71328139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A323C73-C579-0CC9-4B9E-34F0927F46EB}"/>
              </a:ext>
            </a:extLst>
          </p:cNvPr>
          <p:cNvSpPr txBox="1"/>
          <p:nvPr/>
        </p:nvSpPr>
        <p:spPr>
          <a:xfrm>
            <a:off x="830037" y="417942"/>
            <a:ext cx="16995662" cy="1924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7"/>
              </a:lnSpc>
            </a:pPr>
            <a:r>
              <a:rPr lang="en-US" sz="7000" b="1" dirty="0">
                <a:solidFill>
                  <a:srgbClr val="55833D"/>
                </a:solidFill>
                <a:latin typeface="Lora Bold"/>
                <a:sym typeface="Lora Bold"/>
              </a:rPr>
              <a:t>RIDGE REGRESSION ALGORITHM (LINEAR MODEL)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945ACF2-FA37-B4F7-1A99-70299B5C750B}"/>
              </a:ext>
            </a:extLst>
          </p:cNvPr>
          <p:cNvSpPr txBox="1"/>
          <p:nvPr/>
        </p:nvSpPr>
        <p:spPr>
          <a:xfrm>
            <a:off x="17488913" y="256401"/>
            <a:ext cx="673573" cy="49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1"/>
              </a:lnSpc>
              <a:spcBef>
                <a:spcPct val="0"/>
              </a:spcBef>
            </a:pPr>
            <a:r>
              <a:rPr lang="en-US" sz="2987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09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1447C27-D08F-CF9C-774B-4A5D13D338D5}"/>
              </a:ext>
            </a:extLst>
          </p:cNvPr>
          <p:cNvSpPr txBox="1"/>
          <p:nvPr/>
        </p:nvSpPr>
        <p:spPr>
          <a:xfrm>
            <a:off x="462301" y="2248635"/>
            <a:ext cx="16995662" cy="1040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2700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Why Ridge Regression?</a:t>
            </a:r>
          </a:p>
          <a:p>
            <a:pPr algn="l">
              <a:lnSpc>
                <a:spcPts val="4131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293B26"/>
                </a:solidFill>
                <a:latin typeface="Lora Bold"/>
                <a:ea typeface="Lora Bold"/>
                <a:cs typeface="Lora Bold"/>
                <a:sym typeface="Lora Bold"/>
              </a:rPr>
              <a:t>Ridge Regression fits a linear model while shrinking large coefficients to keep predictions stable.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246FF6-71B1-AA0C-AE5B-A90FF171BADF}"/>
              </a:ext>
            </a:extLst>
          </p:cNvPr>
          <p:cNvSpPr txBox="1"/>
          <p:nvPr/>
        </p:nvSpPr>
        <p:spPr>
          <a:xfrm>
            <a:off x="462301" y="3695700"/>
            <a:ext cx="16232873" cy="3993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00" b="1" dirty="0">
                <a:solidFill>
                  <a:srgbClr val="1E241E"/>
                </a:solidFill>
                <a:latin typeface="Lora Bold"/>
                <a:ea typeface="Lora Bold"/>
                <a:cs typeface="Lora Bold"/>
                <a:sym typeface="Lora Bold"/>
              </a:rPr>
              <a:t>Working :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00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Regularized Linear Baseline: Provides a stable benchmark to compare against non‑linear tree models.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00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Handles Multicollinearity: Controls high correlation among soil nutrients (N, P, K) and weather variables by penalizing large coefficients.</a:t>
            </a:r>
          </a:p>
          <a:p>
            <a:pPr marL="816288" lvl="1" indent="-514350" algn="l">
              <a:lnSpc>
                <a:spcPts val="3915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700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Stable &amp; Reliable: Reduces model variance, giving consistent and interpretable yield predictions across different agricultural regions.</a:t>
            </a:r>
          </a:p>
          <a:p>
            <a:pPr algn="l">
              <a:lnSpc>
                <a:spcPts val="3775"/>
              </a:lnSpc>
              <a:spcBef>
                <a:spcPct val="0"/>
              </a:spcBef>
            </a:pPr>
            <a:endParaRPr lang="en-US" sz="2700" dirty="0">
              <a:solidFill>
                <a:srgbClr val="52511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1AEF091-C800-C060-7FE8-ABB4E9CA5495}"/>
              </a:ext>
            </a:extLst>
          </p:cNvPr>
          <p:cNvSpPr txBox="1"/>
          <p:nvPr/>
        </p:nvSpPr>
        <p:spPr>
          <a:xfrm>
            <a:off x="462301" y="7355012"/>
            <a:ext cx="16834982" cy="293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00" b="1" dirty="0">
                <a:solidFill>
                  <a:srgbClr val="1E241E"/>
                </a:solidFill>
                <a:latin typeface="Lora Bold"/>
                <a:ea typeface="Lora Bold"/>
                <a:cs typeface="Lora Bold"/>
                <a:sym typeface="Lora Bold"/>
              </a:rPr>
              <a:t>Parameters Used :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700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Model: </a:t>
            </a:r>
            <a:r>
              <a:rPr lang="en-US" sz="2700" dirty="0" err="1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RidgeCV</a:t>
            </a:r>
            <a:endParaRPr lang="en-US" sz="2700" dirty="0">
              <a:solidFill>
                <a:srgbClr val="52511E"/>
              </a:solidFill>
              <a:latin typeface="Lora"/>
              <a:ea typeface="Lora"/>
              <a:cs typeface="Lora"/>
              <a:sym typeface="Lora"/>
            </a:endParaRP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700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alphas: [0.05, 0.1, 0.5, 1.0, 5.0, 10.0] (dynamically selects optimal regularization strength)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700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Categorical Encoding: One-Hot Encoding for State, District, and Season</a:t>
            </a:r>
          </a:p>
          <a:p>
            <a:pPr marL="582286" lvl="1" indent="-291143" algn="l">
              <a:lnSpc>
                <a:spcPts val="3775"/>
              </a:lnSpc>
              <a:buFont typeface="Arial"/>
              <a:buChar char="•"/>
            </a:pPr>
            <a:r>
              <a:rPr lang="en-US" sz="2700" dirty="0">
                <a:solidFill>
                  <a:srgbClr val="52511E"/>
                </a:solidFill>
                <a:latin typeface="Lora"/>
                <a:ea typeface="Lora"/>
                <a:cs typeface="Lora"/>
                <a:sym typeface="Lora"/>
              </a:rPr>
              <a:t>Validation: 80/20 train-test split evaluated on R squared, MAE, and RMSE</a:t>
            </a:r>
          </a:p>
          <a:p>
            <a:pPr marL="582286" lvl="1" indent="-291143" algn="l">
              <a:lnSpc>
                <a:spcPts val="3775"/>
              </a:lnSpc>
              <a:spcBef>
                <a:spcPct val="0"/>
              </a:spcBef>
              <a:buFont typeface="Arial"/>
              <a:buChar char="•"/>
            </a:pPr>
            <a:endParaRPr lang="en-US" sz="2700" dirty="0">
              <a:solidFill>
                <a:srgbClr val="52511E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40746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71500"/>
            <a:ext cx="18288000" cy="112014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028700" y="529209"/>
            <a:ext cx="991885" cy="1361856"/>
          </a:xfrm>
          <a:custGeom>
            <a:avLst/>
            <a:gdLst/>
            <a:ahLst/>
            <a:cxnLst/>
            <a:rect l="l" t="t" r="r" b="b"/>
            <a:pathLst>
              <a:path w="991885" h="1361856">
                <a:moveTo>
                  <a:pt x="0" y="0"/>
                </a:moveTo>
                <a:lnTo>
                  <a:pt x="991885" y="0"/>
                </a:lnTo>
                <a:lnTo>
                  <a:pt x="991885" y="1361856"/>
                </a:lnTo>
                <a:lnTo>
                  <a:pt x="0" y="1361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17857" y="859645"/>
            <a:ext cx="550423" cy="878960"/>
          </a:xfrm>
          <a:custGeom>
            <a:avLst/>
            <a:gdLst/>
            <a:ahLst/>
            <a:cxnLst/>
            <a:rect l="l" t="t" r="r" b="b"/>
            <a:pathLst>
              <a:path w="550423" h="878960">
                <a:moveTo>
                  <a:pt x="0" y="0"/>
                </a:moveTo>
                <a:lnTo>
                  <a:pt x="550423" y="0"/>
                </a:lnTo>
                <a:lnTo>
                  <a:pt x="550423" y="878960"/>
                </a:lnTo>
                <a:lnTo>
                  <a:pt x="0" y="878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52515" y="2891512"/>
            <a:ext cx="13675983" cy="49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sz="2950" b="1" dirty="0">
                <a:solidFill>
                  <a:srgbClr val="2B3B29"/>
                </a:solidFill>
                <a:latin typeface="Lora Bold"/>
                <a:ea typeface="Lora Bold"/>
                <a:cs typeface="Lora Bold"/>
                <a:sym typeface="Lora Bold"/>
              </a:rPr>
              <a:t>Predictions depend on historical data quality and coverage.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14529" y="1559100"/>
            <a:ext cx="12341479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8"/>
              </a:lnSpc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LIMITATIONS</a:t>
            </a:r>
            <a:endParaRPr lang="en-US" sz="8241" b="1" dirty="0">
              <a:solidFill>
                <a:srgbClr val="415636"/>
              </a:solidFill>
              <a:latin typeface="Lora Bold"/>
              <a:ea typeface="Lora Bold"/>
              <a:cs typeface="Lora Bold"/>
              <a:sym typeface="Lor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24692" y="3869063"/>
            <a:ext cx="14438615" cy="5888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527" lvl="1" algn="l">
              <a:lnSpc>
                <a:spcPts val="4195"/>
              </a:lnSpc>
            </a:pPr>
            <a:endParaRPr lang="en-US" sz="2997" dirty="0">
              <a:solidFill>
                <a:srgbClr val="1E241E"/>
              </a:solidFill>
              <a:latin typeface="Lora"/>
              <a:ea typeface="Lora"/>
              <a:cs typeface="Lora"/>
              <a:sym typeface="Lora"/>
            </a:endParaRPr>
          </a:p>
          <a:p>
            <a:pPr marL="323527" lvl="1" algn="l">
              <a:lnSpc>
                <a:spcPts val="4195"/>
              </a:lnSpc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• Requires matching historical records for the selected crop and location  </a:t>
            </a:r>
          </a:p>
          <a:p>
            <a:pPr marL="323527" lvl="1" algn="l">
              <a:lnSpc>
                <a:spcPts val="4195"/>
              </a:lnSpc>
            </a:pPr>
            <a:endParaRPr lang="en-US" sz="2997" dirty="0">
              <a:solidFill>
                <a:srgbClr val="1E241E"/>
              </a:solidFill>
              <a:latin typeface="Lora"/>
              <a:ea typeface="Lora"/>
              <a:cs typeface="Lora"/>
              <a:sym typeface="Lora"/>
            </a:endParaRPr>
          </a:p>
          <a:p>
            <a:pPr marL="323527" lvl="1" algn="l">
              <a:lnSpc>
                <a:spcPts val="4195"/>
              </a:lnSpc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• Uses recent historical medians rather than live soil and weather measurements  </a:t>
            </a:r>
          </a:p>
          <a:p>
            <a:pPr marL="323527" lvl="1" algn="l">
              <a:lnSpc>
                <a:spcPts val="4195"/>
              </a:lnSpc>
            </a:pPr>
            <a:endParaRPr lang="en-US" sz="2997" dirty="0">
              <a:solidFill>
                <a:srgbClr val="1E241E"/>
              </a:solidFill>
              <a:latin typeface="Lora"/>
              <a:ea typeface="Lora"/>
              <a:cs typeface="Lora"/>
              <a:sym typeface="Lora"/>
            </a:endParaRPr>
          </a:p>
          <a:p>
            <a:pPr marL="323527" lvl="1" algn="l">
              <a:lnSpc>
                <a:spcPts val="4195"/>
              </a:lnSpc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• Random train/test splitting mixes years and regions, so test results may not reflect future performance  </a:t>
            </a:r>
          </a:p>
          <a:p>
            <a:pPr marL="323527" lvl="1" algn="l">
              <a:lnSpc>
                <a:spcPts val="4195"/>
              </a:lnSpc>
            </a:pPr>
            <a:endParaRPr lang="en-US" sz="2997" dirty="0">
              <a:solidFill>
                <a:srgbClr val="1E241E"/>
              </a:solidFill>
              <a:latin typeface="Lora"/>
              <a:ea typeface="Lora"/>
              <a:cs typeface="Lora"/>
              <a:sym typeface="Lora"/>
            </a:endParaRPr>
          </a:p>
          <a:p>
            <a:pPr marL="323527" lvl="1" algn="l">
              <a:lnSpc>
                <a:spcPts val="4195"/>
              </a:lnSpc>
            </a:pPr>
            <a:r>
              <a:rPr lang="en-US" sz="2997" dirty="0">
                <a:solidFill>
                  <a:srgbClr val="1E241E"/>
                </a:solidFill>
                <a:latin typeface="Lora"/>
                <a:ea typeface="Lora"/>
                <a:cs typeface="Lora"/>
                <a:sym typeface="Lora"/>
              </a:rPr>
              <a:t>• The dataset ends in 2020 and may not reflect current farming or climate conditions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57157" y="561989"/>
            <a:ext cx="12474603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8"/>
              </a:lnSpc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LEARNING OUTCOMES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1333500"/>
            <a:ext cx="16411436" cy="8152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74"/>
              </a:lnSpc>
              <a:spcBef>
                <a:spcPct val="0"/>
              </a:spcBef>
            </a:pPr>
            <a:endParaRPr lang="en-US" sz="4553" dirty="0">
              <a:solidFill>
                <a:srgbClr val="009444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6374"/>
              </a:lnSpc>
              <a:spcBef>
                <a:spcPct val="0"/>
              </a:spcBef>
            </a:pPr>
            <a:r>
              <a:rPr lang="en-US" sz="4553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• Prepared crop, soil and weather data for machine learning </a:t>
            </a:r>
          </a:p>
          <a:p>
            <a:pPr algn="l">
              <a:lnSpc>
                <a:spcPts val="6374"/>
              </a:lnSpc>
              <a:spcBef>
                <a:spcPct val="0"/>
              </a:spcBef>
            </a:pPr>
            <a:r>
              <a:rPr lang="en-US" sz="4553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  <a:p>
            <a:pPr algn="l">
              <a:lnSpc>
                <a:spcPts val="6374"/>
              </a:lnSpc>
              <a:spcBef>
                <a:spcPct val="0"/>
              </a:spcBef>
            </a:pPr>
            <a:r>
              <a:rPr lang="en-US" sz="4553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• Trained and compared regression models for different crops  </a:t>
            </a:r>
          </a:p>
          <a:p>
            <a:pPr algn="l">
              <a:lnSpc>
                <a:spcPts val="6374"/>
              </a:lnSpc>
              <a:spcBef>
                <a:spcPct val="0"/>
              </a:spcBef>
            </a:pPr>
            <a:endParaRPr lang="en-US" sz="4553" dirty="0">
              <a:solidFill>
                <a:srgbClr val="009444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6374"/>
              </a:lnSpc>
              <a:spcBef>
                <a:spcPct val="0"/>
              </a:spcBef>
            </a:pPr>
            <a:r>
              <a:rPr lang="en-US" sz="4553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• Interpreted MAE, RMSE and R² to assess prediction quality </a:t>
            </a:r>
          </a:p>
          <a:p>
            <a:pPr algn="l">
              <a:lnSpc>
                <a:spcPts val="6374"/>
              </a:lnSpc>
              <a:spcBef>
                <a:spcPct val="0"/>
              </a:spcBef>
            </a:pPr>
            <a:r>
              <a:rPr lang="en-US" sz="4553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  <a:p>
            <a:pPr algn="l">
              <a:lnSpc>
                <a:spcPts val="6374"/>
              </a:lnSpc>
              <a:spcBef>
                <a:spcPct val="0"/>
              </a:spcBef>
            </a:pPr>
            <a:r>
              <a:rPr lang="en-US" sz="4553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• Connected saved models to a </a:t>
            </a:r>
            <a:r>
              <a:rPr lang="en-US" sz="4553" dirty="0" err="1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Tkinter</a:t>
            </a:r>
            <a:r>
              <a:rPr lang="en-US" sz="4553" dirty="0">
                <a:solidFill>
                  <a:srgbClr val="009444"/>
                </a:solidFill>
                <a:latin typeface="Lora"/>
                <a:ea typeface="Lora"/>
                <a:cs typeface="Lora"/>
                <a:sym typeface="Lora"/>
              </a:rPr>
              <a:t> app and understood the limits of historical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735820"/>
            <a:ext cx="12474603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18"/>
              </a:lnSpc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03141"/>
            <a:ext cx="8695997" cy="710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1"/>
              </a:lnSpc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Future Enhancements</a:t>
            </a:r>
          </a:p>
          <a:p>
            <a:pPr marL="960936" lvl="1" indent="-480468" algn="l">
              <a:lnSpc>
                <a:spcPts val="6231"/>
              </a:lnSpc>
              <a:buFont typeface="Arial"/>
              <a:buChar char="•"/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Live weather API integration</a:t>
            </a:r>
          </a:p>
          <a:p>
            <a:pPr marL="960936" lvl="1" indent="-480468" algn="l">
              <a:lnSpc>
                <a:spcPts val="6231"/>
              </a:lnSpc>
              <a:buFont typeface="Arial"/>
              <a:buChar char="•"/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Fertilizer recommendation</a:t>
            </a:r>
          </a:p>
          <a:p>
            <a:pPr marL="960936" lvl="1" indent="-480468" algn="l">
              <a:lnSpc>
                <a:spcPts val="6231"/>
              </a:lnSpc>
              <a:buFont typeface="Arial"/>
              <a:buChar char="•"/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Disease prediction</a:t>
            </a:r>
          </a:p>
          <a:p>
            <a:pPr marL="960936" lvl="1" indent="-480468" algn="l">
              <a:lnSpc>
                <a:spcPts val="6231"/>
              </a:lnSpc>
              <a:buFont typeface="Arial"/>
              <a:buChar char="•"/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Mobile Application</a:t>
            </a:r>
          </a:p>
          <a:p>
            <a:pPr marL="960936" lvl="1" indent="-480468" algn="l">
              <a:lnSpc>
                <a:spcPts val="6231"/>
              </a:lnSpc>
              <a:buFont typeface="Arial"/>
              <a:buChar char="•"/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Multi-language support</a:t>
            </a:r>
          </a:p>
          <a:p>
            <a:pPr marL="960936" lvl="1" indent="-480468" algn="l">
              <a:lnSpc>
                <a:spcPts val="6231"/>
              </a:lnSpc>
              <a:buFont typeface="Arial"/>
              <a:buChar char="•"/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Satellite data integration</a:t>
            </a:r>
          </a:p>
          <a:p>
            <a:pPr marL="960936" lvl="1" indent="-480468" algn="l">
              <a:lnSpc>
                <a:spcPts val="6231"/>
              </a:lnSpc>
              <a:buFont typeface="Arial"/>
              <a:buChar char="•"/>
            </a:pPr>
            <a:r>
              <a:rPr lang="en-US" sz="4450" dirty="0">
                <a:solidFill>
                  <a:srgbClr val="26471E"/>
                </a:solidFill>
                <a:latin typeface="Lora" pitchFamily="2" charset="0"/>
                <a:ea typeface="Lora Bold"/>
                <a:cs typeface="Lora Bold"/>
                <a:sym typeface="Lora Bold"/>
              </a:rPr>
              <a:t>Deep Learning models</a:t>
            </a:r>
          </a:p>
          <a:p>
            <a:pPr algn="l">
              <a:lnSpc>
                <a:spcPts val="6231"/>
              </a:lnSpc>
              <a:spcBef>
                <a:spcPct val="0"/>
              </a:spcBef>
            </a:pPr>
            <a:endParaRPr lang="en-US" sz="4450" dirty="0">
              <a:solidFill>
                <a:srgbClr val="26471E"/>
              </a:solidFill>
              <a:latin typeface="Lora" pitchFamily="2" charset="0"/>
              <a:ea typeface="Lora Bold"/>
              <a:cs typeface="Lora Bold"/>
              <a:sym typeface="Lora 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930" y="260624"/>
            <a:ext cx="8212645" cy="91711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283" y="1382395"/>
            <a:ext cx="16689017" cy="78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endParaRPr dirty="0"/>
          </a:p>
          <a:p>
            <a:pPr marL="755655" lvl="1" indent="-377828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The system estimates crop yield from historical data using crop-specific Ridge and Random Forest models.</a:t>
            </a:r>
          </a:p>
          <a:p>
            <a:pPr algn="l">
              <a:lnSpc>
                <a:spcPts val="4900"/>
              </a:lnSpc>
            </a:pPr>
            <a:endParaRPr lang="en-US" sz="3500" dirty="0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  <a:p>
            <a:pPr marL="755655" lvl="1" indent="-377828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The </a:t>
            </a:r>
            <a:r>
              <a:rPr lang="en-US" sz="3500" dirty="0" err="1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Tkinter</a:t>
            </a:r>
            <a:r>
              <a:rPr lang="en-US" sz="3500" dirty="0">
                <a:solidFill>
                  <a:srgbClr val="2B3B29"/>
                </a:solidFill>
                <a:latin typeface="Lora"/>
                <a:ea typeface="Lora"/>
                <a:cs typeface="Lora"/>
                <a:sym typeface="Lora"/>
              </a:rPr>
              <a:t> app shows an estimate and supporting history. Accuracy depends on the selected crop and data coverage.</a:t>
            </a:r>
          </a:p>
          <a:p>
            <a:pPr algn="l">
              <a:lnSpc>
                <a:spcPts val="5040"/>
              </a:lnSpc>
            </a:pPr>
            <a:endParaRPr lang="en-US" sz="3500" dirty="0">
              <a:solidFill>
                <a:srgbClr val="2B3B29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      Outcome</a:t>
            </a:r>
          </a:p>
          <a:p>
            <a:pPr marL="777245" lvl="1" indent="-388622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1D2721"/>
                </a:solidFill>
                <a:latin typeface="Lora"/>
                <a:ea typeface="Lora"/>
                <a:cs typeface="Lora"/>
                <a:sym typeface="Lora"/>
              </a:rPr>
              <a:t>Crop-specific estimates</a:t>
            </a:r>
          </a:p>
          <a:p>
            <a:pPr marL="777245" lvl="1" indent="-388622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1D2721"/>
                </a:solidFill>
                <a:latin typeface="Lora"/>
                <a:ea typeface="Lora"/>
                <a:cs typeface="Lora"/>
                <a:sym typeface="Lora"/>
              </a:rPr>
              <a:t>Saved evaluation metrics</a:t>
            </a:r>
          </a:p>
          <a:p>
            <a:pPr marL="777245" lvl="1" indent="-388622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1D2721"/>
                </a:solidFill>
                <a:latin typeface="Lora"/>
                <a:ea typeface="Lora"/>
                <a:cs typeface="Lora"/>
                <a:sym typeface="Lora"/>
              </a:rPr>
              <a:t>Detailed report</a:t>
            </a:r>
          </a:p>
          <a:p>
            <a:pPr marL="777245" lvl="1" indent="-388622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1D2721"/>
                </a:solidFill>
                <a:latin typeface="Lora"/>
                <a:ea typeface="Lora"/>
                <a:cs typeface="Lora"/>
                <a:sym typeface="Lora"/>
              </a:rPr>
              <a:t>Decision support for agriculture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6145" y="6192030"/>
            <a:ext cx="545111" cy="535016"/>
            <a:chOff x="0" y="0"/>
            <a:chExt cx="685800" cy="673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5800" cy="679450"/>
            </a:xfrm>
            <a:custGeom>
              <a:avLst/>
              <a:gdLst/>
              <a:ahLst/>
              <a:cxnLst/>
              <a:rect l="l" t="t" r="r" b="b"/>
              <a:pathLst>
                <a:path w="685800" h="679450">
                  <a:moveTo>
                    <a:pt x="342900" y="0"/>
                  </a:moveTo>
                  <a:lnTo>
                    <a:pt x="382270" y="210820"/>
                  </a:lnTo>
                  <a:lnTo>
                    <a:pt x="529590" y="54610"/>
                  </a:lnTo>
                  <a:lnTo>
                    <a:pt x="449580" y="254000"/>
                  </a:lnTo>
                  <a:lnTo>
                    <a:pt x="657860" y="201930"/>
                  </a:lnTo>
                  <a:lnTo>
                    <a:pt x="482600" y="326390"/>
                  </a:lnTo>
                  <a:lnTo>
                    <a:pt x="685800" y="396240"/>
                  </a:lnTo>
                  <a:lnTo>
                    <a:pt x="471170" y="405130"/>
                  </a:lnTo>
                  <a:lnTo>
                    <a:pt x="604520" y="572770"/>
                  </a:lnTo>
                  <a:lnTo>
                    <a:pt x="419100" y="464820"/>
                  </a:lnTo>
                  <a:lnTo>
                    <a:pt x="440690" y="679450"/>
                  </a:lnTo>
                  <a:lnTo>
                    <a:pt x="342900" y="487680"/>
                  </a:lnTo>
                  <a:lnTo>
                    <a:pt x="245110" y="679450"/>
                  </a:lnTo>
                  <a:lnTo>
                    <a:pt x="266700" y="464820"/>
                  </a:lnTo>
                  <a:lnTo>
                    <a:pt x="81280" y="572770"/>
                  </a:lnTo>
                  <a:lnTo>
                    <a:pt x="214630" y="405130"/>
                  </a:lnTo>
                  <a:lnTo>
                    <a:pt x="0" y="396240"/>
                  </a:lnTo>
                  <a:lnTo>
                    <a:pt x="203200" y="326390"/>
                  </a:lnTo>
                  <a:lnTo>
                    <a:pt x="27940" y="201930"/>
                  </a:lnTo>
                  <a:lnTo>
                    <a:pt x="236220" y="254000"/>
                  </a:lnTo>
                  <a:lnTo>
                    <a:pt x="156210" y="54610"/>
                  </a:lnTo>
                  <a:lnTo>
                    <a:pt x="303530" y="210820"/>
                  </a:lnTo>
                  <a:close/>
                </a:path>
              </a:pathLst>
            </a:custGeom>
            <a:solidFill>
              <a:srgbClr val="55833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03200" y="279400"/>
              <a:ext cx="279400" cy="20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00186" y="544486"/>
            <a:ext cx="7325214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18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79748" y="3165872"/>
            <a:ext cx="7927032" cy="40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000" dirty="0">
                <a:latin typeface="Lora" pitchFamily="2" charset="0"/>
              </a:rPr>
              <a:t>Data.gov.in – Rainfall in India </a:t>
            </a:r>
          </a:p>
        </p:txBody>
      </p:sp>
      <p:sp>
        <p:nvSpPr>
          <p:cNvPr id="5" name="Text 2"/>
          <p:cNvSpPr/>
          <p:nvPr/>
        </p:nvSpPr>
        <p:spPr>
          <a:xfrm>
            <a:off x="1079748" y="3704332"/>
            <a:ext cx="7487476" cy="1032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u="sng" dirty="0">
                <a:latin typeface="Lora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https://www.data.gov.in/catalog/rainfall</a:t>
            </a:r>
            <a:r>
              <a:rPr lang="en-IN" sz="2400" u="sng" dirty="0">
                <a:latin typeface="Lora" pitchFamily="2" charset="0"/>
              </a:rPr>
              <a:t>-india</a:t>
            </a:r>
          </a:p>
        </p:txBody>
      </p:sp>
      <p:sp>
        <p:nvSpPr>
          <p:cNvPr id="7" name="Text 3"/>
          <p:cNvSpPr/>
          <p:nvPr/>
        </p:nvSpPr>
        <p:spPr>
          <a:xfrm>
            <a:off x="9281220" y="3165872"/>
            <a:ext cx="7927032" cy="40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000" dirty="0">
                <a:latin typeface="Lora" pitchFamily="2" charset="0"/>
              </a:rPr>
              <a:t>India Data Portal – Fertilizer Sales Dataset </a:t>
            </a:r>
          </a:p>
        </p:txBody>
      </p:sp>
      <p:sp>
        <p:nvSpPr>
          <p:cNvPr id="8" name="Text 4"/>
          <p:cNvSpPr/>
          <p:nvPr/>
        </p:nvSpPr>
        <p:spPr>
          <a:xfrm>
            <a:off x="9281220" y="3704331"/>
            <a:ext cx="7711380" cy="62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u="sng" dirty="0">
                <a:latin typeface="Lor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https://ckandev.indiadataportal.com/dataset/fertilizer</a:t>
            </a:r>
            <a:endParaRPr lang="en-IN" sz="2400" u="sng" dirty="0">
              <a:latin typeface="Lora" pitchFamily="2" charset="0"/>
            </a:endParaRPr>
          </a:p>
          <a:p>
            <a:r>
              <a:rPr lang="en-IN" sz="2400" u="sng" dirty="0">
                <a:latin typeface="Lora" pitchFamily="2" charset="0"/>
              </a:rPr>
              <a:t>-sales</a:t>
            </a:r>
          </a:p>
        </p:txBody>
      </p:sp>
      <p:sp>
        <p:nvSpPr>
          <p:cNvPr id="10" name="Text 5"/>
          <p:cNvSpPr/>
          <p:nvPr/>
        </p:nvSpPr>
        <p:spPr>
          <a:xfrm>
            <a:off x="1079748" y="7682284"/>
            <a:ext cx="7927032" cy="40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000" dirty="0">
                <a:latin typeface="Lora" pitchFamily="2" charset="0"/>
              </a:rPr>
              <a:t>India Data Portal – Soil Health Card Dataset</a:t>
            </a:r>
          </a:p>
        </p:txBody>
      </p:sp>
      <p:sp>
        <p:nvSpPr>
          <p:cNvPr id="11" name="Text 6"/>
          <p:cNvSpPr/>
          <p:nvPr/>
        </p:nvSpPr>
        <p:spPr>
          <a:xfrm>
            <a:off x="1079749" y="8405547"/>
            <a:ext cx="16898762" cy="103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2400" u="sng" dirty="0">
                <a:latin typeface="Lora" pitchFamily="2" charset="0"/>
              </a:rPr>
              <a:t>https://ckandev.indiadataportal.com/dataset/soil-health-card/resource/024cf507-4281-4c89-a40e-37b5add3a4df</a:t>
            </a:r>
          </a:p>
        </p:txBody>
      </p:sp>
      <p:sp>
        <p:nvSpPr>
          <p:cNvPr id="13" name="Text 7"/>
          <p:cNvSpPr/>
          <p:nvPr/>
        </p:nvSpPr>
        <p:spPr>
          <a:xfrm>
            <a:off x="9281220" y="5322392"/>
            <a:ext cx="7927032" cy="40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000" dirty="0">
                <a:latin typeface="Lora" pitchFamily="2" charset="0"/>
              </a:rPr>
              <a:t>India Data Portal – Climate Data </a:t>
            </a:r>
          </a:p>
        </p:txBody>
      </p:sp>
      <p:sp>
        <p:nvSpPr>
          <p:cNvPr id="14" name="Text 8"/>
          <p:cNvSpPr/>
          <p:nvPr/>
        </p:nvSpPr>
        <p:spPr>
          <a:xfrm>
            <a:off x="9281220" y="5860852"/>
            <a:ext cx="7927032" cy="383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u="sng" dirty="0">
                <a:latin typeface="Lora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https://ckandev.indiadataportal.com/dataset/climate-</a:t>
            </a:r>
            <a:endParaRPr lang="en-IN" sz="2400" u="sng" dirty="0">
              <a:latin typeface="Lora" pitchFamily="2" charset="0"/>
            </a:endParaRPr>
          </a:p>
          <a:p>
            <a:r>
              <a:rPr lang="en-IN" sz="2400" u="sng" dirty="0">
                <a:latin typeface="Lora" pitchFamily="2" charset="0"/>
              </a:rPr>
              <a:t>data</a:t>
            </a:r>
          </a:p>
        </p:txBody>
      </p:sp>
      <p:sp>
        <p:nvSpPr>
          <p:cNvPr id="16" name="Text 9"/>
          <p:cNvSpPr/>
          <p:nvPr/>
        </p:nvSpPr>
        <p:spPr>
          <a:xfrm>
            <a:off x="1079748" y="5322390"/>
            <a:ext cx="7927032" cy="40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000" dirty="0">
                <a:latin typeface="Lora" pitchFamily="2" charset="0"/>
              </a:rPr>
              <a:t>Kaggle – Crop Yield in Indian States Dataset </a:t>
            </a:r>
          </a:p>
        </p:txBody>
      </p:sp>
      <p:sp>
        <p:nvSpPr>
          <p:cNvPr id="17" name="Text 10"/>
          <p:cNvSpPr/>
          <p:nvPr/>
        </p:nvSpPr>
        <p:spPr>
          <a:xfrm>
            <a:off x="1079748" y="5975032"/>
            <a:ext cx="7487476" cy="996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2400" dirty="0">
                <a:latin typeface="Lora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https://www.kaggle.com/datasets/akshatgupta7/crop-yield-in-indian-states-dataset</a:t>
            </a:r>
            <a:endParaRPr lang="en-IN" sz="2400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CBB57-C13C-883C-4465-6C5E024F9BE2}"/>
              </a:ext>
            </a:extLst>
          </p:cNvPr>
          <p:cNvSpPr txBox="1"/>
          <p:nvPr/>
        </p:nvSpPr>
        <p:spPr>
          <a:xfrm>
            <a:off x="4572000" y="839460"/>
            <a:ext cx="914400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818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55833D"/>
                </a:solidFill>
                <a:latin typeface="Lora Bold"/>
                <a:sym typeface="Lora Bold"/>
              </a:rPr>
              <a:t>REFERENCES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079886" y="4561669"/>
            <a:ext cx="4550898" cy="4550898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16369" r="-16369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702019" y="798260"/>
            <a:ext cx="4550898" cy="4550898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5487" r="-4516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144000" y="3029842"/>
            <a:ext cx="5560624" cy="5560624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852" r="-2485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460616" y="2160486"/>
            <a:ext cx="869355" cy="86935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0139" y="3585881"/>
            <a:ext cx="7976933" cy="3856964"/>
            <a:chOff x="0" y="0"/>
            <a:chExt cx="1601512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01512" cy="406400"/>
            </a:xfrm>
            <a:custGeom>
              <a:avLst/>
              <a:gdLst/>
              <a:ahLst/>
              <a:cxnLst/>
              <a:rect l="l" t="t" r="r" b="b"/>
              <a:pathLst>
                <a:path w="1601512" h="406400">
                  <a:moveTo>
                    <a:pt x="1398312" y="0"/>
                  </a:moveTo>
                  <a:cubicBezTo>
                    <a:pt x="1510536" y="0"/>
                    <a:pt x="1601512" y="90976"/>
                    <a:pt x="1601512" y="203200"/>
                  </a:cubicBezTo>
                  <a:cubicBezTo>
                    <a:pt x="1601512" y="315424"/>
                    <a:pt x="1510536" y="406400"/>
                    <a:pt x="13983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5833D"/>
            </a:solidFill>
            <a:ln w="47625" cap="sq">
              <a:solidFill>
                <a:srgbClr val="D7E8B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66675"/>
              <a:ext cx="1601512" cy="339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77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488913" y="256401"/>
            <a:ext cx="673573" cy="4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1"/>
              </a:lnSpc>
              <a:spcBef>
                <a:spcPct val="0"/>
              </a:spcBef>
            </a:pPr>
            <a:r>
              <a:rPr lang="en-US" sz="2987" b="1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7450" y="4984403"/>
            <a:ext cx="6152025" cy="11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8"/>
              </a:lnSpc>
            </a:pPr>
            <a:r>
              <a:rPr lang="en-US" sz="8241" b="1">
                <a:solidFill>
                  <a:srgbClr val="E7E5E5"/>
                </a:solidFill>
                <a:latin typeface="Lora Bold"/>
                <a:ea typeface="Lora Bold"/>
                <a:cs typeface="Lora Bold"/>
                <a:sym typeface="Lora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910</Words>
  <Application>Microsoft Office PowerPoint</Application>
  <PresentationFormat>Custom</PresentationFormat>
  <Paragraphs>174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Lora Bold</vt:lpstr>
      <vt:lpstr>Arial</vt:lpstr>
      <vt:lpstr>Calibri</vt:lpstr>
      <vt:lpstr>Lora</vt:lpstr>
      <vt:lpstr>Muli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</dc:title>
  <dc:creator>DEV</dc:creator>
  <cp:lastModifiedBy>Dev Yadav</cp:lastModifiedBy>
  <cp:revision>7</cp:revision>
  <dcterms:created xsi:type="dcterms:W3CDTF">2006-08-16T00:00:00Z</dcterms:created>
  <dcterms:modified xsi:type="dcterms:W3CDTF">2026-09-23T12:43:18Z</dcterms:modified>
  <dc:identifier>DAHQrzWDUjc</dc:identifier>
</cp:coreProperties>
</file>